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914400"/>
          </a:xfrm>
          <a:prstGeom prst="rect">
            <a:avLst/>
          </a:prstGeom>
          <a:solidFill>
            <a:srgbClr val="29C5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FunRec：从工程迁移到可信推荐迭代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089A8"/>
                </a:solidFill>
                <a:latin typeface="Aptos"/>
              </a:defRPr>
            </a:pPr>
            <a:r>
              <a:t>FUNREC /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241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DCE5F0"/>
                </a:solidFill>
                <a:latin typeface="Aptos"/>
              </a:defRPr>
            </a:pPr>
            <a:r>
              <a:t>MovieLens 1M · PyTorch YouTubeDNN + DeepFM</a:t>
            </a:r>
          </a:p>
          <a:p>
            <a:pPr>
              <a:spcAft>
                <a:spcPts val="1800"/>
              </a:spcAft>
              <a:defRPr sz="2000">
                <a:solidFill>
                  <a:srgbClr val="DCE5F0"/>
                </a:solidFill>
                <a:latin typeface="Aptos"/>
              </a:defRPr>
            </a:pPr>
            <a:r>
              <a:t>主线：协议可信 → 证据驱动 → 受控迭代</a:t>
            </a:r>
          </a:p>
          <a:p>
            <a:pPr>
              <a:spcAft>
                <a:spcPts val="1800"/>
              </a:spcAft>
              <a:defRPr sz="2000">
                <a:solidFill>
                  <a:srgbClr val="DCE5F0"/>
                </a:solidFill>
                <a:latin typeface="Aptos"/>
              </a:defRPr>
            </a:pPr>
            <a:r>
              <a:t>所有优化只用 Validation；封存 Test 不参与选型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46520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089A8"/>
                </a:solidFill>
                <a:latin typeface="Aptos"/>
              </a:defRPr>
            </a:pPr>
            <a:r>
              <a:t>真实实验结果 / Validation 诊断 / 未验证假设明确区分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914400"/>
          </a:xfrm>
          <a:prstGeom prst="rect">
            <a:avLst/>
          </a:prstGeom>
          <a:solidFill>
            <a:srgbClr val="29C5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端到端推荐链路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089A8"/>
                </a:solidFill>
                <a:latin typeface="Aptos"/>
              </a:defRPr>
            </a:pPr>
            <a:r>
              <a:t>FUNREC /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241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DCE5F0"/>
                </a:solidFill>
                <a:latin typeface="Aptos"/>
              </a:defRPr>
            </a:pPr>
            <a:r>
              <a:t>多路召回：YouTubeDNN / user preference</a:t>
            </a:r>
          </a:p>
          <a:p>
            <a:pPr>
              <a:spcAft>
                <a:spcPts val="1800"/>
              </a:spcAft>
              <a:defRPr sz="2000">
                <a:solidFill>
                  <a:srgbClr val="DCE5F0"/>
                </a:solidFill>
                <a:latin typeface="Aptos"/>
              </a:defRPr>
            </a:pPr>
            <a:r>
              <a:t>候选排序：DeepFM pointwise BCE</a:t>
            </a:r>
          </a:p>
          <a:p>
            <a:pPr>
              <a:spcAft>
                <a:spcPts val="1800"/>
              </a:spcAft>
              <a:defRPr sz="2000">
                <a:solidFill>
                  <a:srgbClr val="DCE5F0"/>
                </a:solidFill>
                <a:latin typeface="Aptos"/>
              </a:defRPr>
            </a:pPr>
            <a:r>
              <a:t>重排：类型与年代多样性；容器内同工件验证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46520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089A8"/>
                </a:solidFill>
                <a:latin typeface="Aptos"/>
              </a:defRPr>
            </a:pPr>
            <a:r>
              <a:t>真实实验结果 / Validation 诊断 / 未验证假设明确区分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914400"/>
          </a:xfrm>
          <a:prstGeom prst="rect">
            <a:avLst/>
          </a:prstGeom>
          <a:solidFill>
            <a:srgbClr val="29C5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数据与时序协议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089A8"/>
                </a:solidFill>
                <a:latin typeface="Aptos"/>
              </a:defRPr>
            </a:pPr>
            <a:r>
              <a:t>FUNREC /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241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DCE5F0"/>
                </a:solidFill>
                <a:latin typeface="Aptos"/>
              </a:defRPr>
            </a:pPr>
            <a:r>
              <a:t>1,000,209 交互 · 6,040 用户 · 3,883 电影</a:t>
            </a:r>
          </a:p>
          <a:p>
            <a:pPr>
              <a:spcAft>
                <a:spcPts val="1800"/>
              </a:spcAft>
              <a:defRPr sz="2000">
                <a:solidFill>
                  <a:srgbClr val="DCE5F0"/>
                </a:solidFill>
                <a:latin typeface="Aptos"/>
              </a:defRPr>
            </a:pPr>
            <a:r>
              <a:t>每用户时序 Train / Validation / Test</a:t>
            </a:r>
          </a:p>
          <a:p>
            <a:pPr>
              <a:spcAft>
                <a:spcPts val="1800"/>
              </a:spcAft>
              <a:defRPr sz="2000">
                <a:solidFill>
                  <a:srgbClr val="DCE5F0"/>
                </a:solidFill>
                <a:latin typeface="Aptos"/>
              </a:defRPr>
            </a:pPr>
            <a:r>
              <a:t>Train 982,089；Validation / Test 各 6,040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46520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089A8"/>
                </a:solidFill>
                <a:latin typeface="Aptos"/>
              </a:defRPr>
            </a:pPr>
            <a:r>
              <a:t>真实实验结果 / Validation 诊断 / 未验证假设明确区分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914400"/>
          </a:xfrm>
          <a:prstGeom prst="rect">
            <a:avLst/>
          </a:prstGeom>
          <a:solidFill>
            <a:srgbClr val="29C5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先审计，再相信指标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089A8"/>
                </a:solidFill>
                <a:latin typeface="Aptos"/>
              </a:defRPr>
            </a:pPr>
            <a:r>
              <a:t>FUNREC /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241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DCE5F0"/>
                </a:solidFill>
                <a:latin typeface="Aptos"/>
              </a:defRPr>
            </a:pPr>
            <a:r>
              <a:t>修复 36,396 个跨 split 用户—电影重叠与标签冲突</a:t>
            </a:r>
          </a:p>
          <a:p>
            <a:pPr>
              <a:spcAft>
                <a:spcPts val="1800"/>
              </a:spcAft>
              <a:defRPr sz="2000">
                <a:solidFill>
                  <a:srgbClr val="DCE5F0"/>
                </a:solidFill>
                <a:latin typeface="Aptos"/>
              </a:defRPr>
            </a:pPr>
            <a:r>
              <a:t>训练期计算标签阈值；Validation 用于选择 checkpoint</a:t>
            </a:r>
          </a:p>
          <a:p>
            <a:pPr>
              <a:spcAft>
                <a:spcPts val="1800"/>
              </a:spcAft>
              <a:defRPr sz="2000">
                <a:solidFill>
                  <a:srgbClr val="DCE5F0"/>
                </a:solidFill>
                <a:latin typeface="Aptos"/>
              </a:defRPr>
            </a:pPr>
            <a:r>
              <a:t>Baseline Test 仅运行一次，随后封存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46520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089A8"/>
                </a:solidFill>
                <a:latin typeface="Aptos"/>
              </a:defRPr>
            </a:pPr>
            <a:r>
              <a:t>真实实验结果 / Validation 诊断 / 未验证假设明确区分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914400"/>
          </a:xfrm>
          <a:prstGeom prst="rect">
            <a:avLst/>
          </a:prstGeom>
          <a:solidFill>
            <a:srgbClr val="29C5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Baseline：真实但有限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089A8"/>
                </a:solidFill>
                <a:latin typeface="Aptos"/>
              </a:defRPr>
            </a:pPr>
            <a:r>
              <a:t>FUNREC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241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DCE5F0"/>
                </a:solidFill>
                <a:latin typeface="Aptos"/>
              </a:defRPr>
            </a:pPr>
            <a:r>
              <a:t>YouTubeDNN：History-10 masked mean，最佳 Epoch 14</a:t>
            </a:r>
          </a:p>
          <a:p>
            <a:pPr>
              <a:spcAft>
                <a:spcPts val="1800"/>
              </a:spcAft>
              <a:defRPr sz="2000">
                <a:solidFill>
                  <a:srgbClr val="DCE5F0"/>
                </a:solidFill>
                <a:latin typeface="Aptos"/>
              </a:defRPr>
            </a:pPr>
            <a:r>
              <a:t>唯一 Test：Recall@10 0.137086；NDCG@10 0.070298</a:t>
            </a:r>
          </a:p>
          <a:p>
            <a:pPr>
              <a:spcAft>
                <a:spcPts val="1800"/>
              </a:spcAft>
              <a:defRPr sz="2000">
                <a:solidFill>
                  <a:srgbClr val="DCE5F0"/>
                </a:solidFill>
                <a:latin typeface="Aptos"/>
              </a:defRPr>
            </a:pPr>
            <a:r>
              <a:t>DeepFM Test ROC-AUC 0.841382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46520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089A8"/>
                </a:solidFill>
                <a:latin typeface="Aptos"/>
              </a:defRPr>
            </a:pPr>
            <a:r>
              <a:t>真实实验结果 / Validation 诊断 / 未验证假设明确区分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914400"/>
          </a:xfrm>
          <a:prstGeom prst="rect">
            <a:avLst/>
          </a:prstGeom>
          <a:solidFill>
            <a:srgbClr val="29C5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Validation 诊断定位弱点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089A8"/>
                </a:solidFill>
                <a:latin typeface="Aptos"/>
              </a:defRPr>
            </a:pPr>
            <a:r>
              <a:t>FUNREC /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241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DCE5F0"/>
                </a:solidFill>
                <a:latin typeface="Aptos"/>
              </a:defRPr>
            </a:pPr>
            <a:r>
              <a:t>AQ3 Recall@10 0.105123；AQ0 0.198423</a:t>
            </a:r>
          </a:p>
          <a:p>
            <a:pPr>
              <a:spcAft>
                <a:spcPts val="1800"/>
              </a:spcAft>
              <a:defRPr sz="2000">
                <a:solidFill>
                  <a:srgbClr val="DCE5F0"/>
                </a:solidFill>
                <a:latin typeface="Aptos"/>
              </a:defRPr>
            </a:pPr>
            <a:r>
              <a:t>AQ0−AQ3 gap 0.093300</a:t>
            </a:r>
          </a:p>
          <a:p>
            <a:pPr>
              <a:spcAft>
                <a:spcPts val="1800"/>
              </a:spcAft>
              <a:defRPr sz="2000">
                <a:solidFill>
                  <a:srgbClr val="DCE5F0"/>
                </a:solidFill>
                <a:latin typeface="Aptos"/>
              </a:defRPr>
            </a:pPr>
            <a:r>
              <a:t>Tail PQ0 Recall@10 0.079396</a:t>
            </a:r>
          </a:p>
          <a:p>
            <a:pPr>
              <a:spcAft>
                <a:spcPts val="1800"/>
              </a:spcAft>
              <a:defRPr sz="2000">
                <a:solidFill>
                  <a:srgbClr val="DCE5F0"/>
                </a:solidFill>
                <a:latin typeface="Aptos"/>
              </a:defRPr>
            </a:pPr>
            <a:r>
              <a:t>这些是相关性，不直接宣称兴趣漂移因果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46520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089A8"/>
                </a:solidFill>
                <a:latin typeface="Aptos"/>
              </a:defRPr>
            </a:pPr>
            <a:r>
              <a:t>真实实验结果 / Validation 诊断 / 未验证假设明确区分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914400"/>
          </a:xfrm>
          <a:prstGeom prst="rect">
            <a:avLst/>
          </a:prstGeom>
          <a:solidFill>
            <a:srgbClr val="29C5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失败对照：History-20 masked mean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089A8"/>
                </a:solidFill>
                <a:latin typeface="Aptos"/>
              </a:defRPr>
            </a:pPr>
            <a:r>
              <a:t>FUNREC /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241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DCE5F0"/>
                </a:solidFill>
                <a:latin typeface="Aptos"/>
              </a:defRPr>
            </a:pPr>
            <a:r>
              <a:t>Validation Recall@10 0.143543；NDCG@10 0.072490</a:t>
            </a:r>
          </a:p>
          <a:p>
            <a:pPr>
              <a:spcAft>
                <a:spcPts val="1800"/>
              </a:spcAft>
              <a:defRPr sz="2000">
                <a:solidFill>
                  <a:srgbClr val="DCE5F0"/>
                </a:solidFill>
                <a:latin typeface="Aptos"/>
              </a:defRPr>
            </a:pPr>
            <a:r>
              <a:t>仅通过 5 项预注册门槛中的 1 项</a:t>
            </a:r>
          </a:p>
          <a:p>
            <a:pPr>
              <a:spcAft>
                <a:spcPts val="1800"/>
              </a:spcAft>
              <a:defRPr sz="2000">
                <a:solidFill>
                  <a:srgbClr val="DCE5F0"/>
                </a:solidFill>
                <a:latin typeface="Aptos"/>
              </a:defRPr>
            </a:pPr>
            <a:r>
              <a:t>结论：validation_rejected；Test 未访问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46520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089A8"/>
                </a:solidFill>
                <a:latin typeface="Aptos"/>
              </a:defRPr>
            </a:pPr>
            <a:r>
              <a:t>真实实验结果 / Validation 诊断 / 未验证假设明确区分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914400"/>
          </a:xfrm>
          <a:prstGeom prst="rect">
            <a:avLst/>
          </a:prstGeom>
          <a:solidFill>
            <a:srgbClr val="29C5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遮罩诊断约束了解释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089A8"/>
                </a:solidFill>
                <a:latin typeface="Aptos"/>
              </a:defRPr>
            </a:pPr>
            <a:r>
              <a:t>FUNREC /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241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DCE5F0"/>
                </a:solidFill>
                <a:latin typeface="Aptos"/>
              </a:defRPr>
            </a:pPr>
            <a:r>
              <a:t>full-20 / recent-10 / older-10 Recall@10：0.143543 / 0.122682 / 0.071192</a:t>
            </a:r>
          </a:p>
          <a:p>
            <a:pPr>
              <a:spcAft>
                <a:spcPts val="1800"/>
              </a:spcAft>
              <a:defRPr sz="2000">
                <a:solidFill>
                  <a:srgbClr val="DCE5F0"/>
                </a:solidFill>
                <a:latin typeface="Aptos"/>
              </a:defRPr>
            </a:pPr>
            <a:r>
              <a:t>仅满足 1/4 个“简单等权稀释”判据</a:t>
            </a:r>
          </a:p>
          <a:p>
            <a:pPr>
              <a:spcAft>
                <a:spcPts val="1800"/>
              </a:spcAft>
              <a:defRPr sz="2000">
                <a:solidFill>
                  <a:srgbClr val="DCE5F0"/>
                </a:solidFill>
                <a:latin typeface="Aptos"/>
              </a:defRPr>
            </a:pPr>
            <a:r>
              <a:t>因此下一步提高聚合表达，而不是删除旧历史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46520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089A8"/>
                </a:solidFill>
                <a:latin typeface="Aptos"/>
              </a:defRPr>
            </a:pPr>
            <a:r>
              <a:t>真实实验结果 / Validation 诊断 / 未验证假设明确区分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914400"/>
          </a:xfrm>
          <a:prstGeom prst="rect">
            <a:avLst/>
          </a:prstGeom>
          <a:solidFill>
            <a:srgbClr val="29C5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候选设计：个性化位置注意力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089A8"/>
                </a:solidFill>
                <a:latin typeface="Aptos"/>
              </a:defRPr>
            </a:pPr>
            <a:r>
              <a:t>FUNREC /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241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DCE5F0"/>
                </a:solidFill>
                <a:latin typeface="Aptos"/>
              </a:defRPr>
            </a:pPr>
            <a:r>
              <a:t>唯一变量：History-20 + personalized attention</a:t>
            </a:r>
          </a:p>
          <a:p>
            <a:pPr>
              <a:spcAft>
                <a:spcPts val="1800"/>
              </a:spcAft>
              <a:defRPr sz="2000">
                <a:solidFill>
                  <a:srgbClr val="DCE5F0"/>
                </a:solidFill>
                <a:latin typeface="Aptos"/>
              </a:defRPr>
            </a:pPr>
            <a:r>
              <a:t>静态用户特征产生 query；movie / genre 独立 attention</a:t>
            </a:r>
          </a:p>
          <a:p>
            <a:pPr>
              <a:spcAft>
                <a:spcPts val="1800"/>
              </a:spcAft>
              <a:defRPr sz="2000">
                <a:solidFill>
                  <a:srgbClr val="DCE5F0"/>
                </a:solidFill>
                <a:latin typeface="Aptos"/>
              </a:defRPr>
            </a:pPr>
            <a:r>
              <a:t>左 padding、位置 embedding、masked softmax；其他训练条件冻结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46520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089A8"/>
                </a:solidFill>
                <a:latin typeface="Aptos"/>
              </a:defRPr>
            </a:pPr>
            <a:r>
              <a:t>真实实验结果 / Validation 诊断 / 未验证假设明确区分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914400"/>
          </a:xfrm>
          <a:prstGeom prst="rect">
            <a:avLst/>
          </a:prstGeom>
          <a:solidFill>
            <a:srgbClr val="29C5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Attention-20：预注册与训练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089A8"/>
                </a:solidFill>
                <a:latin typeface="Aptos"/>
              </a:defRPr>
            </a:pPr>
            <a:r>
              <a:t>FUNREC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241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DCE5F0"/>
                </a:solidFill>
                <a:latin typeface="Aptos"/>
              </a:defRPr>
            </a:pPr>
            <a:r>
              <a:t>最多 30 epochs，patience=3，seed=42</a:t>
            </a:r>
          </a:p>
          <a:p>
            <a:pPr>
              <a:spcAft>
                <a:spcPts val="1800"/>
              </a:spcAft>
              <a:defRPr sz="2000">
                <a:solidFill>
                  <a:srgbClr val="DCE5F0"/>
                </a:solidFill>
                <a:latin typeface="Aptos"/>
              </a:defRPr>
            </a:pPr>
            <a:r>
              <a:t>按 Validation loss 选择 checkpoint；Epoch 20 最佳</a:t>
            </a:r>
          </a:p>
          <a:p>
            <a:pPr>
              <a:spcAft>
                <a:spcPts val="1800"/>
              </a:spcAft>
              <a:defRPr sz="2000">
                <a:solidFill>
                  <a:srgbClr val="DCE5F0"/>
                </a:solidFill>
                <a:latin typeface="Aptos"/>
              </a:defRPr>
            </a:pPr>
            <a:r>
              <a:t>Epoch 23 早停；Test accessed=false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46520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089A8"/>
                </a:solidFill>
                <a:latin typeface="Aptos"/>
              </a:defRPr>
            </a:pPr>
            <a:r>
              <a:t>真实实验结果 / Validation 诊断 / 未验证假设明确区分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914400"/>
          </a:xfrm>
          <a:prstGeom prst="rect">
            <a:avLst/>
          </a:prstGeom>
          <a:solidFill>
            <a:srgbClr val="29C5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Attention-20：总体指标显著提升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089A8"/>
                </a:solidFill>
                <a:latin typeface="Aptos"/>
              </a:defRPr>
            </a:pPr>
            <a:r>
              <a:t>FUNREC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241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DCE5F0"/>
                </a:solidFill>
                <a:latin typeface="Aptos"/>
              </a:defRPr>
            </a:pPr>
            <a:r>
              <a:t>Recall@10 0.199007（门槛 ≥ 0.161954）</a:t>
            </a:r>
          </a:p>
          <a:p>
            <a:pPr>
              <a:spcAft>
                <a:spcPts val="1800"/>
              </a:spcAft>
              <a:defRPr sz="2000">
                <a:solidFill>
                  <a:srgbClr val="DCE5F0"/>
                </a:solidFill>
                <a:latin typeface="Aptos"/>
              </a:defRPr>
            </a:pPr>
            <a:r>
              <a:t>NDCG@10 0.101495（门槛 ≥ 0.072737）</a:t>
            </a:r>
          </a:p>
          <a:p>
            <a:pPr>
              <a:spcAft>
                <a:spcPts val="1800"/>
              </a:spcAft>
              <a:defRPr sz="2000">
                <a:solidFill>
                  <a:srgbClr val="DCE5F0"/>
                </a:solidFill>
                <a:latin typeface="Aptos"/>
              </a:defRPr>
            </a:pPr>
            <a:r>
              <a:t>AQ3 0.139721、Tail PQ0 0.120735：均通过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46520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089A8"/>
                </a:solidFill>
                <a:latin typeface="Aptos"/>
              </a:defRPr>
            </a:pPr>
            <a:r>
              <a:t>真实实验结果 / Validation 诊断 / 未验证假设明确区分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914400"/>
          </a:xfrm>
          <a:prstGeom prst="rect">
            <a:avLst/>
          </a:prstGeom>
          <a:solidFill>
            <a:srgbClr val="29C5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但不能只看总体：按规则拒绝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089A8"/>
                </a:solidFill>
                <a:latin typeface="Aptos"/>
              </a:defRPr>
            </a:pPr>
            <a:r>
              <a:t>FUNREC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241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DCE5F0"/>
                </a:solidFill>
                <a:latin typeface="Aptos"/>
              </a:defRPr>
            </a:pPr>
            <a:r>
              <a:t>AQ0−AQ3 gap = 0.120463</a:t>
            </a:r>
          </a:p>
          <a:p>
            <a:pPr>
              <a:spcAft>
                <a:spcPts val="1800"/>
              </a:spcAft>
              <a:defRPr sz="2000">
                <a:solidFill>
                  <a:srgbClr val="DCE5F0"/>
                </a:solidFill>
                <a:latin typeface="Aptos"/>
              </a:defRPr>
            </a:pPr>
            <a:r>
              <a:t>冻结上限 = 0.088300</a:t>
            </a:r>
          </a:p>
          <a:p>
            <a:pPr>
              <a:spcAft>
                <a:spcPts val="1800"/>
              </a:spcAft>
              <a:defRPr sz="2000">
                <a:solidFill>
                  <a:srgbClr val="DCE5F0"/>
                </a:solidFill>
                <a:latin typeface="Aptos"/>
              </a:defRPr>
            </a:pPr>
            <a:r>
              <a:t>4/5 通过仍不足晋级：validation_rejected</a:t>
            </a:r>
          </a:p>
          <a:p>
            <a:pPr>
              <a:spcAft>
                <a:spcPts val="1800"/>
              </a:spcAft>
              <a:defRPr sz="2000">
                <a:solidFill>
                  <a:srgbClr val="DCE5F0"/>
                </a:solidFill>
                <a:latin typeface="Aptos"/>
              </a:defRPr>
            </a:pPr>
            <a:r>
              <a:t>不修改门槛，不打开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46520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089A8"/>
                </a:solidFill>
                <a:latin typeface="Aptos"/>
              </a:defRPr>
            </a:pPr>
            <a:r>
              <a:t>真实实验结果 / Validation 诊断 / 未验证假设明确区分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914400"/>
          </a:xfrm>
          <a:prstGeom prst="rect">
            <a:avLst/>
          </a:prstGeom>
          <a:solidFill>
            <a:srgbClr val="29C5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机制诊断与下一假设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089A8"/>
                </a:solidFill>
                <a:latin typeface="Aptos"/>
              </a:defRPr>
            </a:pPr>
            <a:r>
              <a:t>FUNREC /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241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DCE5F0"/>
                </a:solidFill>
                <a:latin typeface="Aptos"/>
              </a:defRPr>
            </a:pPr>
            <a:r>
              <a:t>AQ3 movie attention 更分散：有效历史 9.628 vs AQ0 8.226</a:t>
            </a:r>
          </a:p>
          <a:p>
            <a:pPr>
              <a:spcAft>
                <a:spcPts val="1800"/>
              </a:spcAft>
              <a:defRPr sz="2000">
                <a:solidFill>
                  <a:srgbClr val="DCE5F0"/>
                </a:solidFill>
                <a:latin typeface="Aptos"/>
              </a:defRPr>
            </a:pPr>
            <a:r>
              <a:t>AQ3 最近 5 项权重更低：0.702 vs 0.756</a:t>
            </a:r>
          </a:p>
          <a:p>
            <a:pPr>
              <a:spcAft>
                <a:spcPts val="1800"/>
              </a:spcAft>
              <a:defRPr sz="2000">
                <a:solidFill>
                  <a:srgbClr val="DCE5F0"/>
                </a:solidFill>
                <a:latin typeface="Aptos"/>
              </a:defRPr>
            </a:pPr>
            <a:r>
              <a:t>仅为 Validation 相关性：保留双时间尺度、学习近期—较早融合，需重新预注册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46520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089A8"/>
                </a:solidFill>
                <a:latin typeface="Aptos"/>
              </a:defRPr>
            </a:pPr>
            <a:r>
              <a:t>真实实验结果 / Validation 诊断 / 未验证假设明确区分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914400"/>
          </a:xfrm>
          <a:prstGeom prst="rect">
            <a:avLst/>
          </a:prstGeom>
          <a:solidFill>
            <a:srgbClr val="29C5A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5F8FC"/>
                </a:solidFill>
                <a:latin typeface="Aptos"/>
              </a:defRPr>
            </a:pPr>
            <a:r>
              <a:t>面试总结：可信闭环优先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7089A8"/>
                </a:solidFill>
                <a:latin typeface="Aptos"/>
              </a:defRPr>
            </a:pPr>
            <a:r>
              <a:t>FUNREC /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2412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DCE5F0"/>
                </a:solidFill>
                <a:latin typeface="Aptos"/>
              </a:defRPr>
            </a:pPr>
            <a:r>
              <a:t>问题：迁移后的指标能否信任？</a:t>
            </a:r>
          </a:p>
          <a:p>
            <a:pPr>
              <a:spcAft>
                <a:spcPts val="1800"/>
              </a:spcAft>
              <a:defRPr sz="2000">
                <a:solidFill>
                  <a:srgbClr val="DCE5F0"/>
                </a:solidFill>
                <a:latin typeface="Aptos"/>
              </a:defRPr>
            </a:pPr>
            <a:r>
              <a:t>证据：时序协议、封存 Test、切片诊断、失败实验</a:t>
            </a:r>
          </a:p>
          <a:p>
            <a:pPr>
              <a:spcAft>
                <a:spcPts val="1800"/>
              </a:spcAft>
              <a:defRPr sz="2000">
                <a:solidFill>
                  <a:srgbClr val="DCE5F0"/>
                </a:solidFill>
                <a:latin typeface="Aptos"/>
              </a:defRPr>
            </a:pPr>
            <a:r>
              <a:t>决策：总体变好但 gap 超限，拒绝 Attention-20</a:t>
            </a:r>
          </a:p>
          <a:p>
            <a:pPr>
              <a:spcAft>
                <a:spcPts val="1800"/>
              </a:spcAft>
              <a:defRPr sz="2000">
                <a:solidFill>
                  <a:srgbClr val="DCE5F0"/>
                </a:solidFill>
                <a:latin typeface="Aptos"/>
              </a:defRPr>
            </a:pPr>
            <a:r>
              <a:t>下一步：新单变量假设 → 预注册 → Validation 决策 → 再讨论最终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46520"/>
            <a:ext cx="10058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7089A8"/>
                </a:solidFill>
                <a:latin typeface="Aptos"/>
              </a:defRPr>
            </a:pPr>
            <a:r>
              <a:t>真实实验结果 / Validation 诊断 / 未验证假设明确区分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